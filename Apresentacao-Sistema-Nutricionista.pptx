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9cfe568634ce7" /><Relationship Type="http://schemas.openxmlformats.org/officeDocument/2006/relationships/extended-properties" Target="/docProps/app.xml" Id="R3e3e42770c3a4f04" /><Relationship Type="http://schemas.openxmlformats.org/officeDocument/2006/relationships/officeDocument" Target="/ppt/presentation.xml" Id="R802ed4c9041d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0540c92824700"/>
  </p:sldMasterIdLst>
  <p:notesMasterIdLst>
    <p:notesMasterId xmlns:r="http://schemas.openxmlformats.org/officeDocument/2006/relationships" r:id="R7b9c7a0759c44aa3"/>
  </p:notesMasterIdLst>
  <p:sldIdLst>
    <p:sldId xmlns:r="http://schemas.openxmlformats.org/officeDocument/2006/relationships" id="256" r:id="Ra7685801b6da433d"/>
    <p:sldId xmlns:r="http://schemas.openxmlformats.org/officeDocument/2006/relationships" id="257" r:id="R10ae10af3ce0415d"/>
    <p:sldId xmlns:r="http://schemas.openxmlformats.org/officeDocument/2006/relationships" id="258" r:id="Rfb4d2031dee44f44"/>
    <p:sldId xmlns:r="http://schemas.openxmlformats.org/officeDocument/2006/relationships" id="259" r:id="Rf04ab4454de14c31"/>
    <p:sldId xmlns:r="http://schemas.openxmlformats.org/officeDocument/2006/relationships" id="260" r:id="R9306f2a6651e42ec"/>
    <p:sldId xmlns:r="http://schemas.openxmlformats.org/officeDocument/2006/relationships" id="261" r:id="R20b2cb46a55446d0"/>
    <p:sldId xmlns:r="http://schemas.openxmlformats.org/officeDocument/2006/relationships" id="262" r:id="R45753c38e61f40c6"/>
    <p:sldId xmlns:r="http://schemas.openxmlformats.org/officeDocument/2006/relationships" id="263" r:id="R3022d505e9b149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db90297b584266" /><Relationship Type="http://schemas.openxmlformats.org/officeDocument/2006/relationships/slideMaster" Target="/ppt/slideMasters/slideMaster1.xml" Id="R8830540c92824700" /><Relationship Type="http://schemas.openxmlformats.org/officeDocument/2006/relationships/notesMaster" Target="/ppt/notesMasters/notesMaster1.xml" Id="R7b9c7a0759c44aa3" /><Relationship Type="http://schemas.openxmlformats.org/officeDocument/2006/relationships/presProps" Target="/ppt/presProps.xml" Id="R72537eaf711a47d1" /><Relationship Type="http://schemas.openxmlformats.org/officeDocument/2006/relationships/tableStyles" Target="/ppt/tableStyles.xml" Id="Reb82e5f6ee4d4205" /><Relationship Type="http://schemas.openxmlformats.org/officeDocument/2006/relationships/slide" Target="/ppt/slides/slide1.xml" Id="Ra7685801b6da433d" /><Relationship Type="http://schemas.openxmlformats.org/officeDocument/2006/relationships/slide" Target="/ppt/slides/slide2.xml" Id="R10ae10af3ce0415d" /><Relationship Type="http://schemas.openxmlformats.org/officeDocument/2006/relationships/slide" Target="/ppt/slides/slide3.xml" Id="Rfb4d2031dee44f44" /><Relationship Type="http://schemas.openxmlformats.org/officeDocument/2006/relationships/slide" Target="/ppt/slides/slide4.xml" Id="Rf04ab4454de14c31" /><Relationship Type="http://schemas.openxmlformats.org/officeDocument/2006/relationships/slide" Target="/ppt/slides/slide5.xml" Id="R9306f2a6651e42ec" /><Relationship Type="http://schemas.openxmlformats.org/officeDocument/2006/relationships/slide" Target="/ppt/slides/slide6.xml" Id="R20b2cb46a55446d0" /><Relationship Type="http://schemas.openxmlformats.org/officeDocument/2006/relationships/slide" Target="/ppt/slides/slide7.xml" Id="R45753c38e61f40c6" /><Relationship Type="http://schemas.openxmlformats.org/officeDocument/2006/relationships/slide" Target="/ppt/slides/slide8.xml" Id="R3022d505e9b1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a88a54cc6c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8eaf6151ac4017" /><Relationship Type="http://schemas.openxmlformats.org/officeDocument/2006/relationships/notesMaster" Target="/ppt/notesMasters/notesMaster1.xml" Id="Rfd76215abff644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386030a01d4b0a" /><Relationship Type="http://schemas.openxmlformats.org/officeDocument/2006/relationships/notesMaster" Target="/ppt/notesMasters/notesMaster1.xml" Id="Rb1214c7026274e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e7b0ca37c4c16" /><Relationship Type="http://schemas.openxmlformats.org/officeDocument/2006/relationships/notesMaster" Target="/ppt/notesMasters/notesMaster1.xml" Id="R7e5f7d6dc8e647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a74734dfd4520" /><Relationship Type="http://schemas.openxmlformats.org/officeDocument/2006/relationships/notesMaster" Target="/ppt/notesMasters/notesMaster1.xml" Id="R53554f2b40ca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f6357a36a8497d" /><Relationship Type="http://schemas.openxmlformats.org/officeDocument/2006/relationships/notesMaster" Target="/ppt/notesMasters/notesMaster1.xml" Id="R9bb09764db1446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06ae3455924067" /><Relationship Type="http://schemas.openxmlformats.org/officeDocument/2006/relationships/notesMaster" Target="/ppt/notesMasters/notesMaster1.xml" Id="R745793845fce41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e379361219449e" /><Relationship Type="http://schemas.openxmlformats.org/officeDocument/2006/relationships/notesMaster" Target="/ppt/notesMasters/notesMaster1.xml" Id="Rfe17380927e545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ae309ae6184e2f" /><Relationship Type="http://schemas.openxmlformats.org/officeDocument/2006/relationships/notesMaster" Target="/ppt/notesMasters/notesMaster1.xml" Id="R63fc88bdb2714a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d1c3aa2554b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d3240d19ab4fef" /><Relationship Type="http://schemas.openxmlformats.org/officeDocument/2006/relationships/slideLayout" Target="/ppt/slideLayouts/slideLayout1.xml" Id="R10aa079a51504d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aa079a51504d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335e57afb413a" /><Relationship Type="http://schemas.openxmlformats.org/officeDocument/2006/relationships/image" Target="/ppt/media/image.bin" Id="Rfe23d3790cec4b9f" /><Relationship Type="http://schemas.openxmlformats.org/officeDocument/2006/relationships/notesSlide" Target="/ppt/notesSlides/notesSlide1.xml" Id="R31fb2eb1db1048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7d8178fb049a7" /><Relationship Type="http://schemas.openxmlformats.org/officeDocument/2006/relationships/notesSlide" Target="/ppt/notesSlides/notesSlide2.xml" Id="Rba89a6eb73ff47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7e0b2783e4311" /><Relationship Type="http://schemas.openxmlformats.org/officeDocument/2006/relationships/notesSlide" Target="/ppt/notesSlides/notesSlide3.xml" Id="R8a68d8e6af3841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bee5fe7424568" /><Relationship Type="http://schemas.openxmlformats.org/officeDocument/2006/relationships/notesSlide" Target="/ppt/notesSlides/notesSlide4.xml" Id="Ra1a14c5a61fd44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e32fa3f7e4832" /><Relationship Type="http://schemas.openxmlformats.org/officeDocument/2006/relationships/image" Target="/ppt/media/image2.bin" Id="R44876a6aae054468" /><Relationship Type="http://schemas.openxmlformats.org/officeDocument/2006/relationships/notesSlide" Target="/ppt/notesSlides/notesSlide5.xml" Id="R591ff127f05044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518ff82744b6" /><Relationship Type="http://schemas.openxmlformats.org/officeDocument/2006/relationships/notesSlide" Target="/ppt/notesSlides/notesSlide6.xml" Id="R1d13325f108b40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898b0ed86468e" /><Relationship Type="http://schemas.openxmlformats.org/officeDocument/2006/relationships/notesSlide" Target="/ppt/notesSlides/notesSlide7.xml" Id="Rf735fdffd23b43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82e7de8244f8c" /><Relationship Type="http://schemas.openxmlformats.org/officeDocument/2006/relationships/image" Target="/ppt/media/image3.bin" Id="R996540dd2a90498b" /><Relationship Type="http://schemas.openxmlformats.org/officeDocument/2006/relationships/notesSlide" Target="/ppt/notesSlides/notesSlide8.xml" Id="Ra149d05ad82b4f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field">
            <a:extLst xmlns:a="http://schemas.openxmlformats.org/drawingml/2006/main">
              <a:ext uri="{FF2B5EF4-FFF2-40B4-BE49-F238E27FC236}">
                <a16:creationId xmlns:a16="http://schemas.microsoft.com/office/drawing/2014/main" id="{2636EBCE-7215-48A6-BE48-7B24D8DA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3d3790cec4b9f"/>
          <a:srcRect xmlns:a="http://schemas.openxmlformats.org/drawingml/2006/main" l="11111" t="0" r="11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4590366-0960-4E86-9698-D71FD46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UMA ROTINA CLÍNICA MAIS ORGANIZADA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4687533-14CE-40FA-A56F-DA58C68D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Mais presença no atendimento.</a:t>
            </a:r>
          </a:p>
          <a:p xmlns:a="http://schemas.openxmlformats.org/drawingml/2006/main">
            <a:pPr algn="l">
              <a:defRPr sz="42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Menos ruído na rotina.</a:t>
            </a:r>
          </a:p>
        </p:txBody>
      </p:sp>
      <p:sp>
        <p:nvSpPr>
          <p:cNvPr id="5" name="cover-sub">
            <a:extLst xmlns:a="http://schemas.openxmlformats.org/drawingml/2006/main">
              <a:ext uri="{FF2B5EF4-FFF2-40B4-BE49-F238E27FC236}">
                <a16:creationId xmlns:a16="http://schemas.microsoft.com/office/drawing/2014/main" id="{E8EE01F0-3463-4A40-8E71-C0660581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Um sistema para acompanhar cada paciente com contexto, continuidade e segurança.</a:t>
            </a:r>
          </a:p>
        </p:txBody>
      </p:sp>
      <p:sp>
        <p:nvSpPr>
          <p:cNvPr id="6" name="cover-close">
            <a:extLst xmlns:a="http://schemas.openxmlformats.org/drawingml/2006/main">
              <a:ext uri="{FF2B5EF4-FFF2-40B4-BE49-F238E27FC236}">
                <a16:creationId xmlns:a16="http://schemas.microsoft.com/office/drawing/2014/main" id="{A2C7BFD2-6DA9-44FF-92F7-B54D85AE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Apresentação para uso piloto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CA705C9E-776F-4A25-BB06-8D2BAA79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7230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2">
            <a:extLst xmlns:a="http://schemas.openxmlformats.org/drawingml/2006/main">
              <a:ext uri="{FF2B5EF4-FFF2-40B4-BE49-F238E27FC236}">
                <a16:creationId xmlns:a16="http://schemas.microsoft.com/office/drawing/2014/main" id="{B3FD3F0E-26E7-4A29-9410-1AC9CA5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SISTEMA NUTRICIONAL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941E13D-6994-4C11-80CE-21359557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O cuidado perde fluidez quando a informação fica espalhada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02FAC1E6-3CA9-4C2D-B8C3-20EC8F2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7352C57E-322D-4116-A6E6-5434E6C9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Na rotina</a:t>
            </a:r>
          </a:p>
        </p:txBody>
      </p:sp>
      <p:sp>
        <p:nvSpPr>
          <p:cNvPr id="5" name="left-list">
            <a:extLst xmlns:a="http://schemas.openxmlformats.org/drawingml/2006/main">
              <a:ext uri="{FF2B5EF4-FFF2-40B4-BE49-F238E27FC236}">
                <a16:creationId xmlns:a16="http://schemas.microsoft.com/office/drawing/2014/main" id="{EC014B65-A60A-4A52-B042-995D21F4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Agenda em um lugar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Anotações em formatos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Planos e exames difíceis de localizar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Mensagens sem contexto clínico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C8A73A4E-9936-4C74-8D98-D7B9622B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190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head">
            <a:extLst xmlns:a="http://schemas.openxmlformats.org/drawingml/2006/main">
              <a:ext uri="{FF2B5EF4-FFF2-40B4-BE49-F238E27FC236}">
                <a16:creationId xmlns:a16="http://schemas.microsoft.com/office/drawing/2014/main" id="{C6576755-3505-463C-B790-828915B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Com o sistema</a:t>
            </a:r>
          </a:p>
        </p:txBody>
      </p:sp>
      <p:sp>
        <p:nvSpPr>
          <p:cNvPr id="8" name="right-list">
            <a:extLst xmlns:a="http://schemas.openxmlformats.org/drawingml/2006/main">
              <a:ext uri="{FF2B5EF4-FFF2-40B4-BE49-F238E27FC236}">
                <a16:creationId xmlns:a16="http://schemas.microsoft.com/office/drawing/2014/main" id="{20743BC5-D36C-4442-B1BC-3CCF7B73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Jornada organizada por paciente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Histórico disponível no atendimento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Plano publicado diretamente no portal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Comunicação vinculada ao acompanhamento</a:t>
            </a:r>
          </a:p>
        </p:txBody>
      </p:sp>
    </p:spTree>
    <p:extLst>
      <p:ext uri="{BB962C8B-B14F-4D97-AF65-F5344CB8AC3E}">
        <p14:creationId xmlns:p14="http://schemas.microsoft.com/office/powerpoint/2010/main" val="610132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">
            <a:extLst xmlns:a="http://schemas.openxmlformats.org/drawingml/2006/main">
              <a:ext uri="{FF2B5EF4-FFF2-40B4-BE49-F238E27FC236}">
                <a16:creationId xmlns:a16="http://schemas.microsoft.com/office/drawing/2014/main" id="{6CB20ACC-830F-4F40-9CCA-EA3ACFCA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SISTEMA NUTRICIONAL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2CD3854-C192-45FE-8177-AE70FB92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A jornada clínica acontece em uma sequência simples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A26E645E-092C-4039-B4C1-2E7A5B40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3D43A3AE-1ED5-442A-9284-19F54719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AE946AA2-8F4E-48F0-831C-5B77D4F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1CB17B0F-7F90-499D-890B-47E11717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tep-0">
            <a:extLst xmlns:a="http://schemas.openxmlformats.org/drawingml/2006/main">
              <a:ext uri="{FF2B5EF4-FFF2-40B4-BE49-F238E27FC236}">
                <a16:creationId xmlns:a16="http://schemas.microsoft.com/office/drawing/2014/main" id="{9E1D68F2-1B40-4646-B4C9-3A42EC38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8" name="desc-0">
            <a:extLst xmlns:a="http://schemas.openxmlformats.org/drawingml/2006/main">
              <a:ext uri="{FF2B5EF4-FFF2-40B4-BE49-F238E27FC236}">
                <a16:creationId xmlns:a16="http://schemas.microsoft.com/office/drawing/2014/main" id="{68457457-434C-428B-A9B2-B8F00537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Consulta organizada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8087D32B-4883-4F83-B60A-A3E9553B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33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D7015869-7289-46D4-8E27-CD2244C1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004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2C2FFE2B-3698-4071-8015-F1ECCBE9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576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Pré-check-in</a:t>
            </a:r>
          </a:p>
        </p:txBody>
      </p:sp>
      <p:sp>
        <p:nvSpPr>
          <p:cNvPr id="12" name="desc-1">
            <a:extLst xmlns:a="http://schemas.openxmlformats.org/drawingml/2006/main">
              <a:ext uri="{FF2B5EF4-FFF2-40B4-BE49-F238E27FC236}">
                <a16:creationId xmlns:a16="http://schemas.microsoft.com/office/drawing/2014/main" id="{45CE69CA-3917-45C4-B9AC-B9F2088F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672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Paciente atualiza o contexto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62E0BC27-F40C-4D5F-B58A-70E3D4D3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33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BAF63BE0-8B1A-4CDA-9DC8-1AEF854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step-2">
            <a:extLst xmlns:a="http://schemas.openxmlformats.org/drawingml/2006/main">
              <a:ext uri="{FF2B5EF4-FFF2-40B4-BE49-F238E27FC236}">
                <a16:creationId xmlns:a16="http://schemas.microsoft.com/office/drawing/2014/main" id="{3F80AED8-82B0-4B29-979C-2127E903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576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16" name="desc-2">
            <a:extLst xmlns:a="http://schemas.openxmlformats.org/drawingml/2006/main">
              <a:ext uri="{FF2B5EF4-FFF2-40B4-BE49-F238E27FC236}">
                <a16:creationId xmlns:a16="http://schemas.microsoft.com/office/drawing/2014/main" id="{7010FF0F-AF4E-4A42-B816-0CDD9C7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Decisão com histórico</a:t>
            </a:r>
          </a:p>
        </p:txBody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9D60C227-1A1A-4A69-85F4-3F3C4692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33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05AF3095-9D44-43A6-A9B4-B91B328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2004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step-3">
            <a:extLst xmlns:a="http://schemas.openxmlformats.org/drawingml/2006/main">
              <a:ext uri="{FF2B5EF4-FFF2-40B4-BE49-F238E27FC236}">
                <a16:creationId xmlns:a16="http://schemas.microsoft.com/office/drawing/2014/main" id="{8A8F27E2-A640-40D9-971B-945A855C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576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Plano</a:t>
            </a:r>
          </a:p>
        </p:txBody>
      </p:sp>
      <p:sp>
        <p:nvSpPr>
          <p:cNvPr id="20" name="desc-3">
            <a:extLst xmlns:a="http://schemas.openxmlformats.org/drawingml/2006/main">
              <a:ext uri="{FF2B5EF4-FFF2-40B4-BE49-F238E27FC236}">
                <a16:creationId xmlns:a16="http://schemas.microsoft.com/office/drawing/2014/main" id="{4D352BCC-47FE-415A-B799-1399A365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672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Orientação publicada</a:t>
            </a:r>
          </a:p>
        </p:txBody>
      </p:sp>
      <p:sp>
        <p:nvSpPr>
          <p:cNvPr id="21" name="dot-4">
            <a:extLst xmlns:a="http://schemas.openxmlformats.org/drawingml/2006/main">
              <a:ext uri="{FF2B5EF4-FFF2-40B4-BE49-F238E27FC236}">
                <a16:creationId xmlns:a16="http://schemas.microsoft.com/office/drawing/2014/main" id="{962C9846-AF33-442F-92ED-6C0F5C56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num-4">
            <a:extLst xmlns:a="http://schemas.openxmlformats.org/drawingml/2006/main">
              <a:ext uri="{FF2B5EF4-FFF2-40B4-BE49-F238E27FC236}">
                <a16:creationId xmlns:a16="http://schemas.microsoft.com/office/drawing/2014/main" id="{83517B2B-06C3-490A-BE91-A12D902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004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step-4">
            <a:extLst xmlns:a="http://schemas.openxmlformats.org/drawingml/2006/main">
              <a:ext uri="{FF2B5EF4-FFF2-40B4-BE49-F238E27FC236}">
                <a16:creationId xmlns:a16="http://schemas.microsoft.com/office/drawing/2014/main" id="{A1357791-267E-4C9C-AF67-805DDEB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576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Acompanhar</a:t>
            </a:r>
          </a:p>
        </p:txBody>
      </p:sp>
      <p:sp>
        <p:nvSpPr>
          <p:cNvPr id="24" name="desc-4">
            <a:extLst xmlns:a="http://schemas.openxmlformats.org/drawingml/2006/main">
              <a:ext uri="{FF2B5EF4-FFF2-40B4-BE49-F238E27FC236}">
                <a16:creationId xmlns:a16="http://schemas.microsoft.com/office/drawing/2014/main" id="{B748FA9E-8520-4208-8591-6C35A495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672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Evolução contínua</a:t>
            </a:r>
          </a:p>
        </p:txBody>
      </p:sp>
    </p:spTree>
    <p:extLst>
      <p:ext uri="{BB962C8B-B14F-4D97-AF65-F5344CB8AC3E}">
        <p14:creationId xmlns:p14="http://schemas.microsoft.com/office/powerpoint/2010/main" val="1072352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4">
            <a:extLst xmlns:a="http://schemas.openxmlformats.org/drawingml/2006/main">
              <a:ext uri="{FF2B5EF4-FFF2-40B4-BE49-F238E27FC236}">
                <a16:creationId xmlns:a16="http://schemas.microsoft.com/office/drawing/2014/main" id="{DAC652A3-C660-4A87-AF04-A004FFA1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SISTEMA NUTRICIONAL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760B62F-3C7B-4798-A049-236F36F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Cada atendimento começa com o contexto essencial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D3A3B08A-35A9-4FEA-B79B-E8F470DC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clinical-field">
            <a:extLst xmlns:a="http://schemas.openxmlformats.org/drawingml/2006/main">
              <a:ext uri="{FF2B5EF4-FFF2-40B4-BE49-F238E27FC236}">
                <a16:creationId xmlns:a16="http://schemas.microsoft.com/office/drawing/2014/main" id="{78471D83-32DF-42B5-BC1D-05A4EF8E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inical-big">
            <a:extLst xmlns:a="http://schemas.openxmlformats.org/drawingml/2006/main">
              <a:ext uri="{FF2B5EF4-FFF2-40B4-BE49-F238E27FC236}">
                <a16:creationId xmlns:a16="http://schemas.microsoft.com/office/drawing/2014/main" id="{07875E82-65FA-4EBF-A237-2AA231E3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19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Antes de perguntar “o que aconteceu?”,</a:t>
            </a:r>
          </a:p>
          <a:p xmlns:a="http://schemas.openxmlformats.org/drawingml/2006/main">
            <a:pPr algn="l">
              <a:defRPr sz="25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o sistema já mostra o que importa.</a:t>
            </a:r>
          </a:p>
        </p:txBody>
      </p:sp>
      <p:sp>
        <p:nvSpPr>
          <p:cNvPr id="6" name="clinical-note">
            <a:extLst xmlns:a="http://schemas.openxmlformats.org/drawingml/2006/main">
              <a:ext uri="{FF2B5EF4-FFF2-40B4-BE49-F238E27FC236}">
                <a16:creationId xmlns:a16="http://schemas.microsoft.com/office/drawing/2014/main" id="{781030C1-8151-421B-9034-B2C0941A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O pré-check-in apoia a conversa, mas a nutricionista decide o que deve ser registrado formalmente no prontuário.</a:t>
            </a:r>
          </a:p>
        </p:txBody>
      </p:sp>
      <p:sp>
        <p:nvSpPr>
          <p:cNvPr id="7" name="clinical-list">
            <a:extLst xmlns:a="http://schemas.openxmlformats.org/drawingml/2006/main">
              <a:ext uri="{FF2B5EF4-FFF2-40B4-BE49-F238E27FC236}">
                <a16:creationId xmlns:a16="http://schemas.microsoft.com/office/drawing/2014/main" id="{483E5B1D-BAC5-482F-AA58-66619BFB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Resumo clínico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Histórico de consultas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Exames e medidas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Pendências para revisão</a:t>
            </a:r>
          </a:p>
        </p:txBody>
      </p:sp>
    </p:spTree>
    <p:extLst>
      <p:ext uri="{BB962C8B-B14F-4D97-AF65-F5344CB8AC3E}">
        <p14:creationId xmlns:p14="http://schemas.microsoft.com/office/powerpoint/2010/main" val="1389405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5">
            <a:extLst xmlns:a="http://schemas.openxmlformats.org/drawingml/2006/main">
              <a:ext uri="{FF2B5EF4-FFF2-40B4-BE49-F238E27FC236}">
                <a16:creationId xmlns:a16="http://schemas.microsoft.com/office/drawing/2014/main" id="{935C4A97-0EE6-4D52-A8AA-9DFDB38A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SISTEMA NUTRICIONAL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88AACA3-2422-4F9A-A8E5-B0CE8A6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O plano sai do atendimento e chega ao paciente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7AB1239A-46A9-4576-A413-87353061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76a6aae054468"/>
          <a:srcRect xmlns:a="http://schemas.openxmlformats.org/drawingml/2006/main" l="14222" t="0" r="14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952625"/>
            <a:ext cx="47625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plan-head">
            <a:extLst xmlns:a="http://schemas.openxmlformats.org/drawingml/2006/main">
              <a:ext uri="{FF2B5EF4-FFF2-40B4-BE49-F238E27FC236}">
                <a16:creationId xmlns:a16="http://schemas.microsoft.com/office/drawing/2014/main" id="{072FE411-84F7-44C4-94DC-9094F0D0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Para a nutricionista</a:t>
            </a:r>
          </a:p>
        </p:txBody>
      </p:sp>
      <p:sp>
        <p:nvSpPr>
          <p:cNvPr id="6" name="plan-pro">
            <a:extLst xmlns:a="http://schemas.openxmlformats.org/drawingml/2006/main">
              <a:ext uri="{FF2B5EF4-FFF2-40B4-BE49-F238E27FC236}">
                <a16:creationId xmlns:a16="http://schemas.microsoft.com/office/drawing/2014/main" id="{83A7F4F1-3C26-4DAF-9737-B40B0B1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Criar e revisar planos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Controlar versões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Registrar o motivo das alterações</a:t>
            </a:r>
          </a:p>
        </p:txBody>
      </p:sp>
      <p:sp>
        <p:nvSpPr>
          <p:cNvPr id="7" name="patient-head">
            <a:extLst xmlns:a="http://schemas.openxmlformats.org/drawingml/2006/main">
              <a:ext uri="{FF2B5EF4-FFF2-40B4-BE49-F238E27FC236}">
                <a16:creationId xmlns:a16="http://schemas.microsoft.com/office/drawing/2014/main" id="{AF8B6609-43A0-44BF-B411-6BB7336E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Para o paciente</a:t>
            </a:r>
          </a:p>
        </p:txBody>
      </p:sp>
      <p:sp>
        <p:nvSpPr>
          <p:cNvPr id="8" name="patient-copy">
            <a:extLst xmlns:a="http://schemas.openxmlformats.org/drawingml/2006/main">
              <a:ext uri="{FF2B5EF4-FFF2-40B4-BE49-F238E27FC236}">
                <a16:creationId xmlns:a16="http://schemas.microsoft.com/office/drawing/2014/main" id="{B0A082A4-E4E4-41FE-8870-366B8510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863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Consultar o plano, acompanhar orientações e acessar documentos em um portal próprio.</a:t>
            </a:r>
          </a:p>
        </p:txBody>
      </p:sp>
    </p:spTree>
    <p:extLst>
      <p:ext uri="{BB962C8B-B14F-4D97-AF65-F5344CB8AC3E}">
        <p14:creationId xmlns:p14="http://schemas.microsoft.com/office/powerpoint/2010/main" val="637918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6">
            <a:extLst xmlns:a="http://schemas.openxmlformats.org/drawingml/2006/main">
              <a:ext uri="{FF2B5EF4-FFF2-40B4-BE49-F238E27FC236}">
                <a16:creationId xmlns:a16="http://schemas.microsoft.com/office/drawing/2014/main" id="{0F1D7C00-43EC-4943-919D-52C223F2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SISTEMA NUTRICIONAL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7EEAFB7-DB75-4C8C-95F1-2E0BD9D7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O paciente participa sem invadir o espaço profissional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6745739F-01F5-4CBB-B5BF-94286344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portal-0">
            <a:extLst xmlns:a="http://schemas.openxmlformats.org/drawingml/2006/main">
              <a:ext uri="{FF2B5EF4-FFF2-40B4-BE49-F238E27FC236}">
                <a16:creationId xmlns:a16="http://schemas.microsoft.com/office/drawing/2014/main" id="{AFBF4D1D-6732-429F-9278-4FE8EE64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ortal-h-0">
            <a:extLst xmlns:a="http://schemas.openxmlformats.org/drawingml/2006/main">
              <a:ext uri="{FF2B5EF4-FFF2-40B4-BE49-F238E27FC236}">
                <a16:creationId xmlns:a16="http://schemas.microsoft.com/office/drawing/2014/main" id="{D6E265A5-1658-4808-A95E-AD15B7BE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Preparar a consulta</a:t>
            </a:r>
          </a:p>
        </p:txBody>
      </p:sp>
      <p:sp>
        <p:nvSpPr>
          <p:cNvPr id="6" name="portal-b-0">
            <a:extLst xmlns:a="http://schemas.openxmlformats.org/drawingml/2006/main">
              <a:ext uri="{FF2B5EF4-FFF2-40B4-BE49-F238E27FC236}">
                <a16:creationId xmlns:a16="http://schemas.microsoft.com/office/drawing/2014/main" id="{8DF20F2F-460D-4FE1-8D96-2AC92812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Responder ao pré-check-in</a:t>
            </a:r>
          </a:p>
        </p:txBody>
      </p:sp>
      <p:sp>
        <p:nvSpPr>
          <p:cNvPr id="7" name="portal-1">
            <a:extLst xmlns:a="http://schemas.openxmlformats.org/drawingml/2006/main">
              <a:ext uri="{FF2B5EF4-FFF2-40B4-BE49-F238E27FC236}">
                <a16:creationId xmlns:a16="http://schemas.microsoft.com/office/drawing/2014/main" id="{DDC6E928-9969-4590-9953-C80DFBAA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ortal-h-1">
            <a:extLst xmlns:a="http://schemas.openxmlformats.org/drawingml/2006/main">
              <a:ext uri="{FF2B5EF4-FFF2-40B4-BE49-F238E27FC236}">
                <a16:creationId xmlns:a16="http://schemas.microsoft.com/office/drawing/2014/main" id="{FB4A34CD-746C-4C1F-AC38-60A14F0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Acompanhar</a:t>
            </a:r>
          </a:p>
        </p:txBody>
      </p:sp>
      <p:sp>
        <p:nvSpPr>
          <p:cNvPr id="9" name="portal-b-1">
            <a:extLst xmlns:a="http://schemas.openxmlformats.org/drawingml/2006/main">
              <a:ext uri="{FF2B5EF4-FFF2-40B4-BE49-F238E27FC236}">
                <a16:creationId xmlns:a16="http://schemas.microsoft.com/office/drawing/2014/main" id="{AEB4B013-4E49-4055-B904-8C5B3334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670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Plano, metas e evolução</a:t>
            </a:r>
          </a:p>
        </p:txBody>
      </p:sp>
      <p:sp>
        <p:nvSpPr>
          <p:cNvPr id="10" name="portal-2">
            <a:extLst xmlns:a="http://schemas.openxmlformats.org/drawingml/2006/main">
              <a:ext uri="{FF2B5EF4-FFF2-40B4-BE49-F238E27FC236}">
                <a16:creationId xmlns:a16="http://schemas.microsoft.com/office/drawing/2014/main" id="{22D1D17F-C1A1-4C9B-9036-38C81CC1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ortal-h-2">
            <a:extLst xmlns:a="http://schemas.openxmlformats.org/drawingml/2006/main">
              <a:ext uri="{FF2B5EF4-FFF2-40B4-BE49-F238E27FC236}">
                <a16:creationId xmlns:a16="http://schemas.microsoft.com/office/drawing/2014/main" id="{A82FF71D-4D7B-4EBD-8F87-5A6713EF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Compartilhar</a:t>
            </a:r>
          </a:p>
        </p:txBody>
      </p:sp>
      <p:sp>
        <p:nvSpPr>
          <p:cNvPr id="12" name="portal-b-2">
            <a:extLst xmlns:a="http://schemas.openxmlformats.org/drawingml/2006/main">
              <a:ext uri="{FF2B5EF4-FFF2-40B4-BE49-F238E27FC236}">
                <a16:creationId xmlns:a16="http://schemas.microsoft.com/office/drawing/2014/main" id="{1678F509-FD78-4E4A-B1FB-98BE279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Exames e diário alimentar</a:t>
            </a:r>
          </a:p>
        </p:txBody>
      </p:sp>
      <p:sp>
        <p:nvSpPr>
          <p:cNvPr id="13" name="portal-3">
            <a:extLst xmlns:a="http://schemas.openxmlformats.org/drawingml/2006/main">
              <a:ext uri="{FF2B5EF4-FFF2-40B4-BE49-F238E27FC236}">
                <a16:creationId xmlns:a16="http://schemas.microsoft.com/office/drawing/2014/main" id="{CF1B5E9C-1562-47AC-9381-6F3D773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ortal-h-3">
            <a:extLst xmlns:a="http://schemas.openxmlformats.org/drawingml/2006/main">
              <a:ext uri="{FF2B5EF4-FFF2-40B4-BE49-F238E27FC236}">
                <a16:creationId xmlns:a16="http://schemas.microsoft.com/office/drawing/2014/main" id="{A1371015-157D-422F-B998-4D996854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433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Conversar</a:t>
            </a:r>
          </a:p>
        </p:txBody>
      </p:sp>
      <p:sp>
        <p:nvSpPr>
          <p:cNvPr id="15" name="portal-b-3">
            <a:extLst xmlns:a="http://schemas.openxmlformats.org/drawingml/2006/main">
              <a:ext uri="{FF2B5EF4-FFF2-40B4-BE49-F238E27FC236}">
                <a16:creationId xmlns:a16="http://schemas.microsoft.com/office/drawing/2014/main" id="{D3F78979-31DF-4C22-88DE-2B4FE89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Mensagens em canal seguro</a:t>
            </a:r>
          </a:p>
        </p:txBody>
      </p:sp>
    </p:spTree>
    <p:extLst>
      <p:ext uri="{BB962C8B-B14F-4D97-AF65-F5344CB8AC3E}">
        <p14:creationId xmlns:p14="http://schemas.microsoft.com/office/powerpoint/2010/main" val="12197333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7">
            <a:extLst xmlns:a="http://schemas.openxmlformats.org/drawingml/2006/main">
              <a:ext uri="{FF2B5EF4-FFF2-40B4-BE49-F238E27FC236}">
                <a16:creationId xmlns:a16="http://schemas.microsoft.com/office/drawing/2014/main" id="{A652AD29-A662-43FC-9891-CF85D481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SISTEMA NUTRICIONAL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8E8BA73-8D22-48E0-B249-07D9A7F0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Privacidade faz parte do fluxo, não é um detalhe posterior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BE010BFB-313A-45FC-BFCE-AC623F8D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security-thesis">
            <a:extLst xmlns:a="http://schemas.openxmlformats.org/drawingml/2006/main">
              <a:ext uri="{FF2B5EF4-FFF2-40B4-BE49-F238E27FC236}">
                <a16:creationId xmlns:a16="http://schemas.microsoft.com/office/drawing/2014/main" id="{7E6A2670-37F5-4741-9245-B907E68F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Cada pessoa acessa somente o que pertence ao seu papel.</a:t>
            </a:r>
          </a:p>
        </p:txBody>
      </p:sp>
      <p:sp>
        <p:nvSpPr>
          <p:cNvPr id="5" name="security-list">
            <a:extLst xmlns:a="http://schemas.openxmlformats.org/drawingml/2006/main">
              <a:ext uri="{FF2B5EF4-FFF2-40B4-BE49-F238E27FC236}">
                <a16:creationId xmlns:a16="http://schemas.microsoft.com/office/drawing/2014/main" id="{2A4F3B47-2E28-4361-949C-5E2338CE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Sessões protegidas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Separação entre acesso profissional e paciente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Auditoria de ações clínicas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Backups e migrações controladas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B"/>
                </a:solidFill>
                <a:latin typeface="Arial"/>
                <a:ea typeface="Arial"/>
                <a:cs typeface="Arial"/>
              </a:rPr>
              <a:t>•  Respostas do paciente revisadas pela profissional</a:t>
            </a:r>
          </a:p>
        </p:txBody>
      </p:sp>
      <p:sp>
        <p:nvSpPr>
          <p:cNvPr id="6" name="security-foot">
            <a:extLst xmlns:a="http://schemas.openxmlformats.org/drawingml/2006/main">
              <a:ext uri="{FF2B5EF4-FFF2-40B4-BE49-F238E27FC236}">
                <a16:creationId xmlns:a16="http://schemas.microsoft.com/office/drawing/2014/main" id="{F2E17866-786A-414A-8D42-C642A45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A ativação real acontece somente após validação do ambiente, migrações e teste final autenticado.</a:t>
            </a:r>
          </a:p>
        </p:txBody>
      </p:sp>
    </p:spTree>
    <p:extLst>
      <p:ext uri="{BB962C8B-B14F-4D97-AF65-F5344CB8AC3E}">
        <p14:creationId xmlns:p14="http://schemas.microsoft.com/office/powerpoint/2010/main" val="816329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540dd2a90498b"/>
          <a:srcRect xmlns:a="http://schemas.openxmlformats.org/drawingml/2006/main" l="15278" t="0" r="15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ilot-kicker">
            <a:extLst xmlns:a="http://schemas.openxmlformats.org/drawingml/2006/main">
              <a:ext uri="{FF2B5EF4-FFF2-40B4-BE49-F238E27FC236}">
                <a16:creationId xmlns:a16="http://schemas.microsoft.com/office/drawing/2014/main" id="{8A4C6009-0091-4A21-8177-D4BD877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PRÓXIMO PASSO</a:t>
            </a:r>
          </a:p>
        </p:txBody>
      </p:sp>
      <p:sp>
        <p:nvSpPr>
          <p:cNvPr id="3" name="pilot-title">
            <a:extLst xmlns:a="http://schemas.openxmlformats.org/drawingml/2006/main">
              <a:ext uri="{FF2B5EF4-FFF2-40B4-BE49-F238E27FC236}">
                <a16:creationId xmlns:a16="http://schemas.microsoft.com/office/drawing/2014/main" id="{84721C19-021F-4BB1-A77F-2FF73BC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Começar pequeno,</a:t>
            </a:r>
          </a:p>
          <a:p xmlns:a="http://schemas.openxmlformats.org/drawingml/2006/main">
            <a:pPr algn="l">
              <a:defRPr sz="4050" b="1">
                <a:solidFill>
                  <a:srgbClr val="15231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231B"/>
                </a:solidFill>
                <a:latin typeface="Arial"/>
                <a:ea typeface="Arial"/>
                <a:cs typeface="Arial"/>
              </a:rPr>
              <a:t>aprender rápido.</a:t>
            </a:r>
          </a:p>
        </p:txBody>
      </p:sp>
      <p:sp>
        <p:nvSpPr>
          <p:cNvPr id="4" name="pilot-copy">
            <a:extLst xmlns:a="http://schemas.openxmlformats.org/drawingml/2006/main">
              <a:ext uri="{FF2B5EF4-FFF2-40B4-BE49-F238E27FC236}">
                <a16:creationId xmlns:a16="http://schemas.microsoft.com/office/drawing/2014/main" id="{6FD7EAA3-E403-4FE5-9BAF-140B0665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Proposta: configurar o sistema com a nutricionista, simular uma jornada completa e iniciar um piloto acompanhado.</a:t>
            </a:r>
          </a:p>
        </p:txBody>
      </p:sp>
      <p:sp>
        <p:nvSpPr>
          <p:cNvPr id="5" name="pilot-steps">
            <a:extLst xmlns:a="http://schemas.openxmlformats.org/drawingml/2006/main">
              <a:ext uri="{FF2B5EF4-FFF2-40B4-BE49-F238E27FC236}">
                <a16:creationId xmlns:a16="http://schemas.microsoft.com/office/drawing/2014/main" id="{00F3DA25-E402-4268-9176-88C55FD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1. Configuração assistida</a:t>
            </a:r>
          </a:p>
          <a:p xmlns:a="http://schemas.openxmlformats.org/drawingml/2006/main">
            <a:pPr algn="l">
              <a:defRPr sz="17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2. Treinamento curto</a:t>
            </a:r>
          </a:p>
          <a:p xmlns:a="http://schemas.openxmlformats.org/drawingml/2006/main">
            <a:pPr algn="l">
              <a:defRPr sz="17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3. Uso piloto</a:t>
            </a:r>
          </a:p>
          <a:p xmlns:a="http://schemas.openxmlformats.org/drawingml/2006/main">
            <a:pPr algn="l">
              <a:defRPr sz="1725" b="1">
                <a:solidFill>
                  <a:srgbClr val="2447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4735"/>
                </a:solidFill>
                <a:latin typeface="Arial"/>
                <a:ea typeface="Arial"/>
                <a:cs typeface="Arial"/>
              </a:rPr>
              <a:t>4. Ajustes com feedback real</a:t>
            </a:r>
          </a:p>
        </p:txBody>
      </p:sp>
      <p:sp>
        <p:nvSpPr>
          <p:cNvPr id="6" name="footer-8">
            <a:extLst xmlns:a="http://schemas.openxmlformats.org/drawingml/2006/main">
              <a:ext uri="{FF2B5EF4-FFF2-40B4-BE49-F238E27FC236}">
                <a16:creationId xmlns:a16="http://schemas.microsoft.com/office/drawing/2014/main" id="{24D78548-A546-483B-8751-9FF51145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1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1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3622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2026-08-15T08:57:13.3610000Z</dcterms:created>
  <dcterms:modified xsi:type="dcterms:W3CDTF">2026-08-15T08:57:13.3610000Z</dcterms:modified>
</coreProperties>
</file>